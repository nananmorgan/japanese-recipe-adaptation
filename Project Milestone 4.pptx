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17"/>
  </p:notesMasterIdLst>
  <p:handoutMasterIdLst>
    <p:handoutMasterId r:id="rId18"/>
  </p:handoutMasterIdLst>
  <p:sldIdLst>
    <p:sldId id="325" r:id="rId5"/>
    <p:sldId id="324" r:id="rId6"/>
    <p:sldId id="338" r:id="rId7"/>
    <p:sldId id="343" r:id="rId8"/>
    <p:sldId id="344" r:id="rId9"/>
    <p:sldId id="312" r:id="rId10"/>
    <p:sldId id="339" r:id="rId11"/>
    <p:sldId id="317" r:id="rId12"/>
    <p:sldId id="336" r:id="rId13"/>
    <p:sldId id="341" r:id="rId14"/>
    <p:sldId id="342" r:id="rId15"/>
    <p:sldId id="32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105" d="100"/>
          <a:sy n="105" d="100"/>
        </p:scale>
        <p:origin x="834" y="11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a Noda-Morgan" userId="fb7c6438d8d0cec5" providerId="LiveId" clId="{F458FC63-393E-42BD-9600-262DCDB7CB94}"/>
    <pc:docChg chg="modSld">
      <pc:chgData name="nana Noda-Morgan" userId="fb7c6438d8d0cec5" providerId="LiveId" clId="{F458FC63-393E-42BD-9600-262DCDB7CB94}" dt="2026-03-04T05:17:43.802" v="8" actId="403"/>
      <pc:docMkLst>
        <pc:docMk/>
      </pc:docMkLst>
      <pc:sldChg chg="modSp mod">
        <pc:chgData name="nana Noda-Morgan" userId="fb7c6438d8d0cec5" providerId="LiveId" clId="{F458FC63-393E-42BD-9600-262DCDB7CB94}" dt="2026-03-04T05:17:43.802" v="8" actId="403"/>
        <pc:sldMkLst>
          <pc:docMk/>
          <pc:sldMk cId="1195628240" sldId="312"/>
        </pc:sldMkLst>
        <pc:spChg chg="mod">
          <ac:chgData name="nana Noda-Morgan" userId="fb7c6438d8d0cec5" providerId="LiveId" clId="{F458FC63-393E-42BD-9600-262DCDB7CB94}" dt="2026-03-04T05:17:43.802" v="8" actId="403"/>
          <ac:spMkLst>
            <pc:docMk/>
            <pc:sldMk cId="1195628240" sldId="312"/>
            <ac:spMk id="2" creationId="{CA391794-986C-4679-93EA-5F3C3EE6C82F}"/>
          </ac:spMkLst>
        </pc:spChg>
      </pc:sldChg>
      <pc:sldChg chg="modSp mod">
        <pc:chgData name="nana Noda-Morgan" userId="fb7c6438d8d0cec5" providerId="LiveId" clId="{F458FC63-393E-42BD-9600-262DCDB7CB94}" dt="2026-03-04T05:17:00.392" v="1" actId="20577"/>
        <pc:sldMkLst>
          <pc:docMk/>
          <pc:sldMk cId="4045600601" sldId="338"/>
        </pc:sldMkLst>
        <pc:spChg chg="mod">
          <ac:chgData name="nana Noda-Morgan" userId="fb7c6438d8d0cec5" providerId="LiveId" clId="{F458FC63-393E-42BD-9600-262DCDB7CB94}" dt="2026-03-04T05:17:00.392" v="1" actId="20577"/>
          <ac:spMkLst>
            <pc:docMk/>
            <pc:sldMk cId="4045600601" sldId="338"/>
            <ac:spMk id="6" creationId="{4552F1CF-68AA-447B-B5B0-C65BB72A5D6D}"/>
          </ac:spMkLst>
        </pc:spChg>
      </pc:sldChg>
      <pc:sldChg chg="modSp mod">
        <pc:chgData name="nana Noda-Morgan" userId="fb7c6438d8d0cec5" providerId="LiveId" clId="{F458FC63-393E-42BD-9600-262DCDB7CB94}" dt="2026-03-04T05:17:21.321" v="2" actId="1076"/>
        <pc:sldMkLst>
          <pc:docMk/>
          <pc:sldMk cId="3874960985" sldId="339"/>
        </pc:sldMkLst>
        <pc:spChg chg="mod">
          <ac:chgData name="nana Noda-Morgan" userId="fb7c6438d8d0cec5" providerId="LiveId" clId="{F458FC63-393E-42BD-9600-262DCDB7CB94}" dt="2026-03-04T05:17:21.321" v="2" actId="1076"/>
          <ac:spMkLst>
            <pc:docMk/>
            <pc:sldMk cId="3874960985" sldId="339"/>
            <ac:spMk id="5" creationId="{C2BAD7B4-5997-4A95-A2A9-773DF1F4CE5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3/3/2026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3/3/2026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391D-F7FC-DBAE-7B5F-FF3C40DEC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EAB3F-B492-3B8D-252A-0A2983318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5D7C6-9C64-E045-C8D9-22FFE175A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D8872-CB86-2322-5B25-77B0FD75371C}"/>
              </a:ext>
            </a:extLst>
          </p:cNvPr>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52284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304603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419420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384972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5FD9-E0D2-7366-3BE0-1ED474880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FF325-3388-AF33-1C05-AE20E2066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847524-A6DA-552B-7857-46003E603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F68FE6-6B92-D066-FB9F-8FA81B79ADE5}"/>
              </a:ext>
            </a:extLst>
          </p:cNvPr>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2634211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C302-142E-1F2D-3949-06AFBB417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79680-B745-E486-9B29-764A4421B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B891D-22B9-3ED1-A476-3D18CA88EB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49B565-7A6F-F28D-41A4-2DC5555B62FE}"/>
              </a:ext>
            </a:extLst>
          </p:cNvPr>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2636011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4255841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371376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96630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1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1406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8902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wo Content 2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7105342"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12" name="Rectangle 11">
            <a:extLst>
              <a:ext uri="{FF2B5EF4-FFF2-40B4-BE49-F238E27FC236}">
                <a16:creationId xmlns:a16="http://schemas.microsoft.com/office/drawing/2014/main" id="{100C4E27-95CA-78A5-BD7A-6109D75C8AE0}"/>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Content Placeholder 3">
            <a:extLst>
              <a:ext uri="{FF2B5EF4-FFF2-40B4-BE49-F238E27FC236}">
                <a16:creationId xmlns:a16="http://schemas.microsoft.com/office/drawing/2014/main" id="{8AE4F7BC-B724-2456-4104-1C5E254EEF37}"/>
              </a:ext>
            </a:extLst>
          </p:cNvPr>
          <p:cNvSpPr>
            <a:spLocks noGrp="1"/>
          </p:cNvSpPr>
          <p:nvPr>
            <p:ph sz="half" idx="15" hasCustomPrompt="1"/>
          </p:nvPr>
        </p:nvSpPr>
        <p:spPr>
          <a:xfrm>
            <a:off x="422178" y="2198914"/>
            <a:ext cx="6487908"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3228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746701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7" r:id="rId13"/>
    <p:sldLayoutId id="2147483898" r:id="rId14"/>
    <p:sldLayoutId id="2147483899" r:id="rId15"/>
    <p:sldLayoutId id="2147483900" r:id="rId16"/>
    <p:sldLayoutId id="2147483901" r:id="rId17"/>
    <p:sldLayoutId id="2147483902" r:id="rId18"/>
    <p:sldLayoutId id="2147483907" r:id="rId19"/>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pixabay.com/photos/japanese-food-japan-food-sashimi-1604865/"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hyperlink" Target="https://nanas-recipe-drift-checker.streamlit.app/" TargetMode="Externa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nanas-recipe-drift-checker.streamlit.app/" TargetMode="External"/><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sz="4400" dirty="0"/>
              <a:t>Project Milestone 4: </a:t>
            </a:r>
            <a:br>
              <a:rPr lang="en-US" sz="4400" dirty="0"/>
            </a:br>
            <a:r>
              <a:rPr lang="en-US" sz="4400" dirty="0"/>
              <a:t>Recipe Drift Checker</a:t>
            </a:r>
            <a:br>
              <a:rPr lang="en-US" dirty="0"/>
            </a:br>
            <a:r>
              <a:rPr lang="en-US" sz="2800" dirty="0"/>
              <a:t>Nana Noda-Morgan</a:t>
            </a:r>
            <a:br>
              <a:rPr lang="en-US" sz="2800" dirty="0"/>
            </a:br>
            <a:br>
              <a:rPr lang="en-US" dirty="0"/>
            </a:br>
            <a:r>
              <a:rPr lang="en-US" sz="1800" dirty="0"/>
              <a:t>DSC 670-T301: Advanced Uses of Generative AI</a:t>
            </a:r>
            <a:br>
              <a:rPr lang="en-US" sz="1800" dirty="0"/>
            </a:br>
            <a:r>
              <a:rPr lang="en-US" sz="1800" dirty="0"/>
              <a:t>Professor Neugebauer</a:t>
            </a:r>
            <a:br>
              <a:rPr lang="en-US" sz="1800" dirty="0"/>
            </a:br>
            <a:r>
              <a:rPr lang="en-US" sz="1800" dirty="0"/>
              <a:t>March 3, 2026</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p:txBody>
          <a:bodyPr/>
          <a:lstStyle/>
          <a:p>
            <a:r>
              <a:rPr lang="en-US" dirty="0"/>
              <a:t>Objective:</a:t>
            </a:r>
            <a:r>
              <a:rPr lang="en-US" sz="3600" dirty="0"/>
              <a:t> </a:t>
            </a:r>
            <a:br>
              <a:rPr lang="en-US" sz="3600" dirty="0"/>
            </a:br>
            <a:r>
              <a:rPr lang="en-US" sz="3600" dirty="0"/>
              <a:t>Create a generative AI app that helps home cooks prepare authentic recipes even if it contains ingredients that are difficult to find locally.</a:t>
            </a:r>
            <a:endParaRPr lang="en-US" dirty="0"/>
          </a:p>
        </p:txBody>
      </p:sp>
      <p:pic>
        <p:nvPicPr>
          <p:cNvPr id="6" name="Picture Placeholder 5">
            <a:extLst>
              <a:ext uri="{FF2B5EF4-FFF2-40B4-BE49-F238E27FC236}">
                <a16:creationId xmlns:a16="http://schemas.microsoft.com/office/drawing/2014/main" id="{5BA16E68-07CF-B46A-0A3A-EDE98823A74D}"/>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2587" r="22587"/>
          <a:stretch>
            <a:fillRect/>
          </a:stretch>
        </p:blipFill>
        <p:spPr/>
      </p:pic>
    </p:spTree>
    <p:extLst>
      <p:ext uri="{BB962C8B-B14F-4D97-AF65-F5344CB8AC3E}">
        <p14:creationId xmlns:p14="http://schemas.microsoft.com/office/powerpoint/2010/main" val="936898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422897" y="576264"/>
            <a:ext cx="5646541" cy="771274"/>
          </a:xfrm>
        </p:spPr>
        <p:txBody>
          <a:bodyPr>
            <a:normAutofit/>
          </a:bodyPr>
          <a:lstStyle/>
          <a:p>
            <a:r>
              <a:rPr lang="en-US" dirty="0"/>
              <a:t>What it does</a:t>
            </a:r>
          </a:p>
        </p:txBody>
      </p:sp>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422275" y="1455821"/>
            <a:ext cx="5673726" cy="4221079"/>
          </a:xfrm>
        </p:spPr>
        <p:txBody>
          <a:bodyPr vert="horz" lIns="91440" tIns="45720" rIns="91440" bIns="45720" rtlCol="0" anchor="t">
            <a:normAutofit/>
          </a:bodyPr>
          <a:lstStyle/>
          <a:p>
            <a:pPr marL="342900" indent="-342900">
              <a:buFont typeface="Arial" panose="020B0604020202020204" pitchFamily="34" charset="0"/>
              <a:buChar char="•"/>
            </a:pPr>
            <a:r>
              <a:rPr lang="en-US" dirty="0"/>
              <a:t>Takes a recipe URL and your zip code as inputs</a:t>
            </a:r>
          </a:p>
          <a:p>
            <a:pPr marL="342900" indent="-342900">
              <a:buFont typeface="Arial" panose="020B0604020202020204" pitchFamily="34" charset="0"/>
              <a:buChar char="•"/>
            </a:pPr>
            <a:r>
              <a:rPr lang="en-US" dirty="0"/>
              <a:t>Looks up what ingredients from that recipe are actually available at grocery stores near you</a:t>
            </a:r>
          </a:p>
          <a:p>
            <a:pPr marL="342900" indent="-342900">
              <a:buFont typeface="Arial" panose="020B0604020202020204" pitchFamily="34" charset="0"/>
              <a:buChar char="•"/>
            </a:pPr>
            <a:r>
              <a:rPr lang="en-US" dirty="0"/>
              <a:t>Suggests substitutions for any ingredients it can't find locally</a:t>
            </a:r>
          </a:p>
          <a:p>
            <a:pPr marL="342900" indent="-342900">
              <a:buFont typeface="Arial" panose="020B0604020202020204" pitchFamily="34" charset="0"/>
              <a:buChar char="•"/>
            </a:pPr>
            <a:r>
              <a:rPr lang="en-US" dirty="0"/>
              <a:t>Tells you how much the substituted recipe has "drifted" from the original</a:t>
            </a:r>
          </a:p>
        </p:txBody>
      </p:sp>
    </p:spTree>
    <p:extLst>
      <p:ext uri="{BB962C8B-B14F-4D97-AF65-F5344CB8AC3E}">
        <p14:creationId xmlns:p14="http://schemas.microsoft.com/office/powerpoint/2010/main" val="4045600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7C21B-C0BF-B81F-7097-7150C7357D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80B4DA-D342-FDCD-262D-A21A8BA31B6E}"/>
              </a:ext>
            </a:extLst>
          </p:cNvPr>
          <p:cNvSpPr>
            <a:spLocks noGrp="1"/>
          </p:cNvSpPr>
          <p:nvPr>
            <p:ph type="ctrTitle"/>
          </p:nvPr>
        </p:nvSpPr>
        <p:spPr>
          <a:xfrm>
            <a:off x="422897" y="576264"/>
            <a:ext cx="5646541" cy="771274"/>
          </a:xfrm>
        </p:spPr>
        <p:txBody>
          <a:bodyPr>
            <a:normAutofit/>
          </a:bodyPr>
          <a:lstStyle/>
          <a:p>
            <a:r>
              <a:rPr lang="en-US" dirty="0"/>
              <a:t>How it works</a:t>
            </a:r>
          </a:p>
        </p:txBody>
      </p:sp>
      <p:sp>
        <p:nvSpPr>
          <p:cNvPr id="6" name="Subtitle 5">
            <a:extLst>
              <a:ext uri="{FF2B5EF4-FFF2-40B4-BE49-F238E27FC236}">
                <a16:creationId xmlns:a16="http://schemas.microsoft.com/office/drawing/2014/main" id="{CF75F63D-D0F8-79D1-BA09-F8E95DB4BBDD}"/>
              </a:ext>
            </a:extLst>
          </p:cNvPr>
          <p:cNvSpPr>
            <a:spLocks noGrp="1"/>
          </p:cNvSpPr>
          <p:nvPr>
            <p:ph type="body" sz="quarter" idx="10"/>
          </p:nvPr>
        </p:nvSpPr>
        <p:spPr>
          <a:xfrm>
            <a:off x="422275" y="1455821"/>
            <a:ext cx="5673726" cy="4221079"/>
          </a:xfrm>
        </p:spPr>
        <p:txBody>
          <a:bodyPr vert="horz" lIns="91440" tIns="45720" rIns="91440" bIns="45720" rtlCol="0" anchor="t">
            <a:normAutofit fontScale="92500"/>
          </a:bodyPr>
          <a:lstStyle/>
          <a:p>
            <a:pPr marL="342900" indent="-342900">
              <a:buFont typeface="Arial" panose="020B0604020202020204" pitchFamily="34" charset="0"/>
              <a:buChar char="•"/>
            </a:pPr>
            <a:r>
              <a:rPr lang="en-US" dirty="0"/>
              <a:t>Uses GPT-5 to retrieve the original recipe and adapt it based on local ingredient availability</a:t>
            </a:r>
          </a:p>
          <a:p>
            <a:pPr marL="342900" indent="-342900">
              <a:buFont typeface="Arial" panose="020B0604020202020204" pitchFamily="34" charset="0"/>
              <a:buChar char="•"/>
            </a:pPr>
            <a:r>
              <a:rPr lang="en-US" dirty="0"/>
              <a:t>Uses a custom fine-tuned model (GPT-4.1) to classify each ingredient as </a:t>
            </a:r>
            <a:r>
              <a:rPr lang="en-US" i="1" dirty="0"/>
              <a:t>core</a:t>
            </a:r>
            <a:r>
              <a:rPr lang="en-US" dirty="0"/>
              <a:t>, </a:t>
            </a:r>
            <a:r>
              <a:rPr lang="en-US" i="1" dirty="0"/>
              <a:t>supporting</a:t>
            </a:r>
            <a:r>
              <a:rPr lang="en-US" dirty="0"/>
              <a:t>, or </a:t>
            </a:r>
            <a:r>
              <a:rPr lang="en-US" i="1" dirty="0"/>
              <a:t>optional</a:t>
            </a:r>
          </a:p>
          <a:p>
            <a:pPr marL="342900" indent="-342900">
              <a:buFont typeface="Arial" panose="020B0604020202020204" pitchFamily="34" charset="0"/>
              <a:buChar char="•"/>
            </a:pPr>
            <a:r>
              <a:rPr lang="en-US" dirty="0"/>
              <a:t>Uses a second GPT model to semantically compare the original and adapted ingredient lists</a:t>
            </a:r>
          </a:p>
          <a:p>
            <a:pPr marL="342900" indent="-342900">
              <a:buFont typeface="Arial" panose="020B0604020202020204" pitchFamily="34" charset="0"/>
              <a:buChar char="•"/>
            </a:pPr>
            <a:r>
              <a:rPr lang="en-US" dirty="0"/>
              <a:t>Applies a scoring system to calculate drift level: Low, Medium, or High</a:t>
            </a:r>
          </a:p>
        </p:txBody>
      </p:sp>
    </p:spTree>
    <p:extLst>
      <p:ext uri="{BB962C8B-B14F-4D97-AF65-F5344CB8AC3E}">
        <p14:creationId xmlns:p14="http://schemas.microsoft.com/office/powerpoint/2010/main" val="3078092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B50CC-8BA7-3153-2E7C-D5724B749793}"/>
              </a:ext>
            </a:extLst>
          </p:cNvPr>
          <p:cNvSpPr>
            <a:spLocks noGrp="1"/>
          </p:cNvSpPr>
          <p:nvPr>
            <p:ph type="ctrTitle"/>
          </p:nvPr>
        </p:nvSpPr>
        <p:spPr/>
        <p:txBody>
          <a:bodyPr/>
          <a:lstStyle/>
          <a:p>
            <a:r>
              <a:rPr lang="en-US" dirty="0"/>
              <a:t>How to access the app</a:t>
            </a:r>
          </a:p>
        </p:txBody>
      </p:sp>
      <p:sp>
        <p:nvSpPr>
          <p:cNvPr id="3" name="Text Placeholder 2">
            <a:extLst>
              <a:ext uri="{FF2B5EF4-FFF2-40B4-BE49-F238E27FC236}">
                <a16:creationId xmlns:a16="http://schemas.microsoft.com/office/drawing/2014/main" id="{3247C650-CF12-27A7-C029-6A7E7FDF9F27}"/>
              </a:ext>
            </a:extLst>
          </p:cNvPr>
          <p:cNvSpPr>
            <a:spLocks noGrp="1"/>
          </p:cNvSpPr>
          <p:nvPr>
            <p:ph type="body" sz="quarter" idx="10"/>
          </p:nvPr>
        </p:nvSpPr>
        <p:spPr>
          <a:xfrm>
            <a:off x="422274" y="4148138"/>
            <a:ext cx="6261989" cy="1528762"/>
          </a:xfrm>
        </p:spPr>
        <p:txBody>
          <a:bodyPr/>
          <a:lstStyle/>
          <a:p>
            <a:r>
              <a:rPr lang="en-US" dirty="0">
                <a:hlinkClick r:id="rId2"/>
              </a:rPr>
              <a:t>https://nanas-recipe-drift-checker.streamlit.app/</a:t>
            </a:r>
            <a:endParaRPr lang="en-US" dirty="0"/>
          </a:p>
          <a:p>
            <a:endParaRPr lang="en-US" dirty="0"/>
          </a:p>
        </p:txBody>
      </p:sp>
    </p:spTree>
    <p:extLst>
      <p:ext uri="{BB962C8B-B14F-4D97-AF65-F5344CB8AC3E}">
        <p14:creationId xmlns:p14="http://schemas.microsoft.com/office/powerpoint/2010/main" val="321364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1794-986C-4679-93EA-5F3C3EE6C82F}"/>
              </a:ext>
            </a:extLst>
          </p:cNvPr>
          <p:cNvSpPr>
            <a:spLocks noGrp="1"/>
          </p:cNvSpPr>
          <p:nvPr>
            <p:ph type="title"/>
          </p:nvPr>
        </p:nvSpPr>
        <p:spPr>
          <a:xfrm>
            <a:off x="512064" y="374904"/>
            <a:ext cx="9643652" cy="1315784"/>
          </a:xfrm>
        </p:spPr>
        <p:txBody>
          <a:bodyPr>
            <a:normAutofit/>
          </a:bodyPr>
          <a:lstStyle/>
          <a:p>
            <a:r>
              <a:rPr lang="en-US" sz="2800" dirty="0"/>
              <a:t>My final app has a simple UI with two user input fields and a CTA to analyze the recipe.</a:t>
            </a:r>
          </a:p>
        </p:txBody>
      </p:sp>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6</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6</a:t>
            </a:fld>
            <a:endParaRPr lang="en-US" dirty="0"/>
          </a:p>
        </p:txBody>
      </p:sp>
      <p:pic>
        <p:nvPicPr>
          <p:cNvPr id="8" name="Content Placeholder 7">
            <a:extLst>
              <a:ext uri="{FF2B5EF4-FFF2-40B4-BE49-F238E27FC236}">
                <a16:creationId xmlns:a16="http://schemas.microsoft.com/office/drawing/2014/main" id="{6292844C-F95A-4553-B264-51486CA8FB5E}"/>
              </a:ext>
            </a:extLst>
          </p:cNvPr>
          <p:cNvPicPr>
            <a:picLocks noGrp="1" noChangeAspect="1"/>
          </p:cNvPicPr>
          <p:nvPr>
            <p:ph idx="1"/>
          </p:nvPr>
        </p:nvPicPr>
        <p:blipFill>
          <a:blip r:embed="rId3"/>
          <a:stretch>
            <a:fillRect/>
          </a:stretch>
        </p:blipFill>
        <p:spPr>
          <a:xfrm>
            <a:off x="1299411" y="1572141"/>
            <a:ext cx="7700210" cy="4436591"/>
          </a:xfrm>
          <a:prstGeom prst="rect">
            <a:avLst/>
          </a:prstGeom>
        </p:spPr>
      </p:pic>
    </p:spTree>
    <p:extLst>
      <p:ext uri="{BB962C8B-B14F-4D97-AF65-F5344CB8AC3E}">
        <p14:creationId xmlns:p14="http://schemas.microsoft.com/office/powerpoint/2010/main" val="1195628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775703" y="477091"/>
            <a:ext cx="8454403" cy="1515980"/>
          </a:xfrm>
        </p:spPr>
        <p:txBody>
          <a:bodyPr>
            <a:noAutofit/>
          </a:bodyPr>
          <a:lstStyle/>
          <a:p>
            <a:r>
              <a:rPr lang="en-US" sz="3600" dirty="0"/>
              <a:t>I added a status message for each step, so the user knows the app is working</a:t>
            </a:r>
          </a:p>
        </p:txBody>
      </p:sp>
      <p:pic>
        <p:nvPicPr>
          <p:cNvPr id="7" name="Picture 6">
            <a:extLst>
              <a:ext uri="{FF2B5EF4-FFF2-40B4-BE49-F238E27FC236}">
                <a16:creationId xmlns:a16="http://schemas.microsoft.com/office/drawing/2014/main" id="{272130D7-7305-F00B-4C1D-70CA16E42EF2}"/>
              </a:ext>
            </a:extLst>
          </p:cNvPr>
          <p:cNvPicPr>
            <a:picLocks noChangeAspect="1"/>
          </p:cNvPicPr>
          <p:nvPr/>
        </p:nvPicPr>
        <p:blipFill>
          <a:blip r:embed="rId3"/>
          <a:stretch>
            <a:fillRect/>
          </a:stretch>
        </p:blipFill>
        <p:spPr>
          <a:xfrm>
            <a:off x="1000609" y="2481460"/>
            <a:ext cx="9416593" cy="3401981"/>
          </a:xfrm>
          <a:prstGeom prst="rect">
            <a:avLst/>
          </a:prstGeom>
        </p:spPr>
      </p:pic>
    </p:spTree>
    <p:extLst>
      <p:ext uri="{BB962C8B-B14F-4D97-AF65-F5344CB8AC3E}">
        <p14:creationId xmlns:p14="http://schemas.microsoft.com/office/powerpoint/2010/main" val="387496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15832-3B88-48CF-8043-95E6A4907870}"/>
              </a:ext>
            </a:extLst>
          </p:cNvPr>
          <p:cNvSpPr>
            <a:spLocks noGrp="1"/>
          </p:cNvSpPr>
          <p:nvPr>
            <p:ph type="title"/>
          </p:nvPr>
        </p:nvSpPr>
        <p:spPr/>
        <p:txBody>
          <a:bodyPr>
            <a:normAutofit/>
          </a:bodyPr>
          <a:lstStyle/>
          <a:p>
            <a:r>
              <a:rPr lang="en-US" dirty="0"/>
              <a:t>The result displays below the CTA and status messages when complete.</a:t>
            </a:r>
          </a:p>
        </p:txBody>
      </p:sp>
      <p:sp>
        <p:nvSpPr>
          <p:cNvPr id="4" name="Content Placeholder 3">
            <a:extLst>
              <a:ext uri="{FF2B5EF4-FFF2-40B4-BE49-F238E27FC236}">
                <a16:creationId xmlns:a16="http://schemas.microsoft.com/office/drawing/2014/main" id="{BB6FF9F1-02F2-4FD4-A3BF-42428815EF2E}"/>
              </a:ext>
            </a:extLst>
          </p:cNvPr>
          <p:cNvSpPr>
            <a:spLocks noGrp="1"/>
          </p:cNvSpPr>
          <p:nvPr>
            <p:ph sz="half" idx="2"/>
          </p:nvPr>
        </p:nvSpPr>
        <p:spPr>
          <a:xfrm>
            <a:off x="7636042" y="2066566"/>
            <a:ext cx="3620432" cy="3455925"/>
          </a:xfrm>
        </p:spPr>
        <p:txBody>
          <a:bodyPr vert="horz" lIns="91440" tIns="45720" rIns="91440" bIns="45720" rtlCol="0" anchor="t">
            <a:normAutofit/>
          </a:bodyPr>
          <a:lstStyle/>
          <a:p>
            <a:r>
              <a:rPr lang="en-US" dirty="0"/>
              <a:t>Recipe title, followed by a high-level summary of how close the recipe is to the original. This helps indicate to the user if the recipe is still worth pursuing. </a:t>
            </a:r>
          </a:p>
        </p:txBody>
      </p:sp>
      <p:sp>
        <p:nvSpPr>
          <p:cNvPr id="33" name="Slide Number Placeholder 32">
            <a:extLst>
              <a:ext uri="{FF2B5EF4-FFF2-40B4-BE49-F238E27FC236}">
                <a16:creationId xmlns:a16="http://schemas.microsoft.com/office/drawing/2014/main" id="{EC64CEEC-83BF-60C7-B00E-F2DE1BC02BC2}"/>
              </a:ext>
            </a:extLst>
          </p:cNvPr>
          <p:cNvSpPr>
            <a:spLocks noGrp="1"/>
          </p:cNvSpPr>
          <p:nvPr>
            <p:ph type="sldNum" sz="quarter" idx="12"/>
          </p:nvPr>
        </p:nvSpPr>
        <p:spPr/>
        <p:txBody>
          <a:bodyPr/>
          <a:lstStyle/>
          <a:p>
            <a:fld id="{3A4F6043-7A67-491B-98BC-F933DED7226D}" type="slidenum">
              <a:rPr lang="en-US" smtClean="0"/>
              <a:pPr/>
              <a:t>8</a:t>
            </a:fld>
            <a:endParaRPr lang="en-US" dirty="0"/>
          </a:p>
        </p:txBody>
      </p:sp>
      <p:pic>
        <p:nvPicPr>
          <p:cNvPr id="8" name="Content Placeholder 7">
            <a:extLst>
              <a:ext uri="{FF2B5EF4-FFF2-40B4-BE49-F238E27FC236}">
                <a16:creationId xmlns:a16="http://schemas.microsoft.com/office/drawing/2014/main" id="{07A55680-09E1-0B7A-DD23-92F280C110DE}"/>
              </a:ext>
            </a:extLst>
          </p:cNvPr>
          <p:cNvPicPr>
            <a:picLocks noGrp="1" noChangeAspect="1"/>
          </p:cNvPicPr>
          <p:nvPr>
            <p:ph sz="half" idx="13"/>
          </p:nvPr>
        </p:nvPicPr>
        <p:blipFill>
          <a:blip r:embed="rId3"/>
          <a:stretch>
            <a:fillRect/>
          </a:stretch>
        </p:blipFill>
        <p:spPr>
          <a:xfrm>
            <a:off x="422178" y="2066566"/>
            <a:ext cx="4626072" cy="165918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0" name="Picture 9">
            <a:extLst>
              <a:ext uri="{FF2B5EF4-FFF2-40B4-BE49-F238E27FC236}">
                <a16:creationId xmlns:a16="http://schemas.microsoft.com/office/drawing/2014/main" id="{1A0B4459-22FF-9DD8-2841-4EA761E0D0D5}"/>
              </a:ext>
            </a:extLst>
          </p:cNvPr>
          <p:cNvPicPr>
            <a:picLocks noChangeAspect="1"/>
          </p:cNvPicPr>
          <p:nvPr/>
        </p:nvPicPr>
        <p:blipFill>
          <a:blip r:embed="rId4"/>
          <a:stretch>
            <a:fillRect/>
          </a:stretch>
        </p:blipFill>
        <p:spPr>
          <a:xfrm>
            <a:off x="1480065" y="3429000"/>
            <a:ext cx="5950256" cy="21591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97687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5544-C200-BEF3-61CE-CCB5EE891064}"/>
              </a:ext>
            </a:extLst>
          </p:cNvPr>
          <p:cNvSpPr>
            <a:spLocks noGrp="1"/>
          </p:cNvSpPr>
          <p:nvPr>
            <p:ph type="title"/>
          </p:nvPr>
        </p:nvSpPr>
        <p:spPr/>
        <p:txBody>
          <a:bodyPr/>
          <a:lstStyle/>
          <a:p>
            <a:r>
              <a:rPr lang="en-US" dirty="0"/>
              <a:t>Output (continued)</a:t>
            </a:r>
          </a:p>
        </p:txBody>
      </p:sp>
      <p:sp>
        <p:nvSpPr>
          <p:cNvPr id="33" name="Slide Number Placeholder 32">
            <a:extLst>
              <a:ext uri="{FF2B5EF4-FFF2-40B4-BE49-F238E27FC236}">
                <a16:creationId xmlns:a16="http://schemas.microsoft.com/office/drawing/2014/main" id="{9E4A32E4-179C-6FC0-8A0F-65F163803ABA}"/>
              </a:ext>
            </a:extLst>
          </p:cNvPr>
          <p:cNvSpPr>
            <a:spLocks noGrp="1"/>
          </p:cNvSpPr>
          <p:nvPr>
            <p:ph type="sldNum" sz="quarter" idx="14"/>
          </p:nvPr>
        </p:nvSpPr>
        <p:spPr/>
        <p:txBody>
          <a:bodyPr/>
          <a:lstStyle/>
          <a:p>
            <a:fld id="{3A4F6043-7A67-491B-98BC-F933DED7226D}" type="slidenum">
              <a:rPr lang="en-US" smtClean="0"/>
              <a:pPr/>
              <a:t>9</a:t>
            </a:fld>
            <a:endParaRPr lang="en-US" dirty="0"/>
          </a:p>
        </p:txBody>
      </p:sp>
      <p:sp>
        <p:nvSpPr>
          <p:cNvPr id="5" name="Content Placeholder 4">
            <a:extLst>
              <a:ext uri="{FF2B5EF4-FFF2-40B4-BE49-F238E27FC236}">
                <a16:creationId xmlns:a16="http://schemas.microsoft.com/office/drawing/2014/main" id="{8BA20013-7013-1403-D620-57933ED1C3D1}"/>
              </a:ext>
            </a:extLst>
          </p:cNvPr>
          <p:cNvSpPr>
            <a:spLocks noGrp="1"/>
          </p:cNvSpPr>
          <p:nvPr>
            <p:ph sz="quarter" idx="4"/>
          </p:nvPr>
        </p:nvSpPr>
        <p:spPr/>
        <p:txBody>
          <a:bodyPr/>
          <a:lstStyle/>
          <a:p>
            <a:r>
              <a:rPr lang="en-US" dirty="0"/>
              <a:t>Below the high-level summary is a full ingredient comparison between the original recipe and the adapted recipe. Each ingredient shows the ingredient classification as color coded tags on the left, as well as the result of whether the adapted recipe required the ingredient to the omitted, swapped, or unchanged.</a:t>
            </a:r>
          </a:p>
        </p:txBody>
      </p:sp>
      <p:pic>
        <p:nvPicPr>
          <p:cNvPr id="24" name="Content Placeholder 23">
            <a:extLst>
              <a:ext uri="{FF2B5EF4-FFF2-40B4-BE49-F238E27FC236}">
                <a16:creationId xmlns:a16="http://schemas.microsoft.com/office/drawing/2014/main" id="{89C096A2-C5C8-A4A5-CAB0-BDE616B87FDA}"/>
              </a:ext>
            </a:extLst>
          </p:cNvPr>
          <p:cNvPicPr>
            <a:picLocks noGrp="1" noChangeAspect="1"/>
          </p:cNvPicPr>
          <p:nvPr>
            <p:ph sz="half" idx="15"/>
          </p:nvPr>
        </p:nvPicPr>
        <p:blipFill>
          <a:blip r:embed="rId3"/>
          <a:stretch>
            <a:fillRect/>
          </a:stretch>
        </p:blipFill>
        <p:spPr>
          <a:xfrm>
            <a:off x="420624" y="1690688"/>
            <a:ext cx="6871167" cy="3738489"/>
          </a:xfrm>
          <a:prstGeom prst="rect">
            <a:avLst/>
          </a:prstGeom>
        </p:spPr>
      </p:pic>
    </p:spTree>
    <p:extLst>
      <p:ext uri="{BB962C8B-B14F-4D97-AF65-F5344CB8AC3E}">
        <p14:creationId xmlns:p14="http://schemas.microsoft.com/office/powerpoint/2010/main" val="1147369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968A-9BC4-E8DC-14A5-264AE6885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F8A75-776E-71C4-F518-10F08A6FBE31}"/>
              </a:ext>
            </a:extLst>
          </p:cNvPr>
          <p:cNvSpPr>
            <a:spLocks noGrp="1"/>
          </p:cNvSpPr>
          <p:nvPr>
            <p:ph type="title"/>
          </p:nvPr>
        </p:nvSpPr>
        <p:spPr/>
        <p:txBody>
          <a:bodyPr/>
          <a:lstStyle/>
          <a:p>
            <a:r>
              <a:rPr lang="en-US" dirty="0"/>
              <a:t>Output (continued)</a:t>
            </a:r>
          </a:p>
        </p:txBody>
      </p:sp>
      <p:sp>
        <p:nvSpPr>
          <p:cNvPr id="33" name="Slide Number Placeholder 32">
            <a:extLst>
              <a:ext uri="{FF2B5EF4-FFF2-40B4-BE49-F238E27FC236}">
                <a16:creationId xmlns:a16="http://schemas.microsoft.com/office/drawing/2014/main" id="{8581F0BA-18A4-D2AB-3D02-3C3507790281}"/>
              </a:ext>
            </a:extLst>
          </p:cNvPr>
          <p:cNvSpPr>
            <a:spLocks noGrp="1"/>
          </p:cNvSpPr>
          <p:nvPr>
            <p:ph type="sldNum" sz="quarter" idx="14"/>
          </p:nvPr>
        </p:nvSpPr>
        <p:spPr/>
        <p:txBody>
          <a:bodyPr/>
          <a:lstStyle/>
          <a:p>
            <a:fld id="{3A4F6043-7A67-491B-98BC-F933DED7226D}" type="slidenum">
              <a:rPr lang="en-US" smtClean="0"/>
              <a:pPr/>
              <a:t>10</a:t>
            </a:fld>
            <a:endParaRPr lang="en-US" dirty="0"/>
          </a:p>
        </p:txBody>
      </p:sp>
      <p:sp>
        <p:nvSpPr>
          <p:cNvPr id="5" name="Content Placeholder 4">
            <a:extLst>
              <a:ext uri="{FF2B5EF4-FFF2-40B4-BE49-F238E27FC236}">
                <a16:creationId xmlns:a16="http://schemas.microsoft.com/office/drawing/2014/main" id="{CBD472D7-D45E-92F9-F94F-8F54AFB4232F}"/>
              </a:ext>
            </a:extLst>
          </p:cNvPr>
          <p:cNvSpPr>
            <a:spLocks noGrp="1"/>
          </p:cNvSpPr>
          <p:nvPr>
            <p:ph sz="quarter" idx="4"/>
          </p:nvPr>
        </p:nvSpPr>
        <p:spPr>
          <a:xfrm>
            <a:off x="7216968" y="2153654"/>
            <a:ext cx="3858592" cy="3491248"/>
          </a:xfrm>
        </p:spPr>
        <p:txBody>
          <a:bodyPr/>
          <a:lstStyle/>
          <a:p>
            <a:r>
              <a:rPr lang="en-US" dirty="0"/>
              <a:t>The next section shows the ingredient list adapted for the user’s zip code.</a:t>
            </a:r>
          </a:p>
        </p:txBody>
      </p:sp>
      <p:pic>
        <p:nvPicPr>
          <p:cNvPr id="21" name="Content Placeholder 20">
            <a:extLst>
              <a:ext uri="{FF2B5EF4-FFF2-40B4-BE49-F238E27FC236}">
                <a16:creationId xmlns:a16="http://schemas.microsoft.com/office/drawing/2014/main" id="{575C8AB1-90CB-C7E4-E5E5-A52332A36EF6}"/>
              </a:ext>
            </a:extLst>
          </p:cNvPr>
          <p:cNvPicPr>
            <a:picLocks noGrp="1" noChangeAspect="1"/>
          </p:cNvPicPr>
          <p:nvPr>
            <p:ph sz="half" idx="15"/>
          </p:nvPr>
        </p:nvPicPr>
        <p:blipFill>
          <a:blip r:embed="rId3"/>
          <a:stretch>
            <a:fillRect/>
          </a:stretch>
        </p:blipFill>
        <p:spPr>
          <a:xfrm>
            <a:off x="318113" y="1876928"/>
            <a:ext cx="6898855" cy="3632154"/>
          </a:xfrm>
          <a:prstGeom prst="rect">
            <a:avLst/>
          </a:prstGeom>
        </p:spPr>
      </p:pic>
    </p:spTree>
    <p:extLst>
      <p:ext uri="{BB962C8B-B14F-4D97-AF65-F5344CB8AC3E}">
        <p14:creationId xmlns:p14="http://schemas.microsoft.com/office/powerpoint/2010/main" val="3550781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773C-AA29-F89E-A60C-5D6F2DA53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D41E8-54DF-2A73-4F60-6EB69F06995A}"/>
              </a:ext>
            </a:extLst>
          </p:cNvPr>
          <p:cNvSpPr>
            <a:spLocks noGrp="1"/>
          </p:cNvSpPr>
          <p:nvPr>
            <p:ph type="title"/>
          </p:nvPr>
        </p:nvSpPr>
        <p:spPr/>
        <p:txBody>
          <a:bodyPr/>
          <a:lstStyle/>
          <a:p>
            <a:r>
              <a:rPr lang="en-US" dirty="0"/>
              <a:t>Output (continued)</a:t>
            </a:r>
          </a:p>
        </p:txBody>
      </p:sp>
      <p:sp>
        <p:nvSpPr>
          <p:cNvPr id="33" name="Slide Number Placeholder 32">
            <a:extLst>
              <a:ext uri="{FF2B5EF4-FFF2-40B4-BE49-F238E27FC236}">
                <a16:creationId xmlns:a16="http://schemas.microsoft.com/office/drawing/2014/main" id="{67C19104-7FD0-4717-58AE-87466B9EA801}"/>
              </a:ext>
            </a:extLst>
          </p:cNvPr>
          <p:cNvSpPr>
            <a:spLocks noGrp="1"/>
          </p:cNvSpPr>
          <p:nvPr>
            <p:ph type="sldNum" sz="quarter" idx="14"/>
          </p:nvPr>
        </p:nvSpPr>
        <p:spPr/>
        <p:txBody>
          <a:bodyPr/>
          <a:lstStyle/>
          <a:p>
            <a:fld id="{3A4F6043-7A67-491B-98BC-F933DED7226D}" type="slidenum">
              <a:rPr lang="en-US" smtClean="0"/>
              <a:pPr/>
              <a:t>11</a:t>
            </a:fld>
            <a:endParaRPr lang="en-US" dirty="0"/>
          </a:p>
        </p:txBody>
      </p:sp>
      <p:sp>
        <p:nvSpPr>
          <p:cNvPr id="5" name="Content Placeholder 4">
            <a:extLst>
              <a:ext uri="{FF2B5EF4-FFF2-40B4-BE49-F238E27FC236}">
                <a16:creationId xmlns:a16="http://schemas.microsoft.com/office/drawing/2014/main" id="{3B8BDC1F-5601-3F22-8AAC-FF9836B4FA5E}"/>
              </a:ext>
            </a:extLst>
          </p:cNvPr>
          <p:cNvSpPr>
            <a:spLocks noGrp="1"/>
          </p:cNvSpPr>
          <p:nvPr>
            <p:ph sz="quarter" idx="4"/>
          </p:nvPr>
        </p:nvSpPr>
        <p:spPr>
          <a:xfrm>
            <a:off x="7808494" y="2198914"/>
            <a:ext cx="3267065" cy="3445987"/>
          </a:xfrm>
        </p:spPr>
        <p:txBody>
          <a:bodyPr/>
          <a:lstStyle/>
          <a:p>
            <a:r>
              <a:rPr lang="en-US" dirty="0"/>
              <a:t>Finally, the recipe instructions are displayed with any adaptations necessary based on the ingredient changes.</a:t>
            </a:r>
          </a:p>
        </p:txBody>
      </p:sp>
      <p:pic>
        <p:nvPicPr>
          <p:cNvPr id="7" name="Content Placeholder 6">
            <a:extLst>
              <a:ext uri="{FF2B5EF4-FFF2-40B4-BE49-F238E27FC236}">
                <a16:creationId xmlns:a16="http://schemas.microsoft.com/office/drawing/2014/main" id="{39F65A7B-2CF8-4BC1-E506-09917DC49A74}"/>
              </a:ext>
            </a:extLst>
          </p:cNvPr>
          <p:cNvPicPr>
            <a:picLocks noGrp="1" noChangeAspect="1"/>
          </p:cNvPicPr>
          <p:nvPr>
            <p:ph sz="half" idx="15"/>
          </p:nvPr>
        </p:nvPicPr>
        <p:blipFill>
          <a:blip r:embed="rId3"/>
          <a:stretch>
            <a:fillRect/>
          </a:stretch>
        </p:blipFill>
        <p:spPr>
          <a:xfrm>
            <a:off x="374063" y="2198914"/>
            <a:ext cx="7434431" cy="3065351"/>
          </a:xfrm>
          <a:prstGeom prst="rect">
            <a:avLst/>
          </a:prstGeom>
        </p:spPr>
      </p:pic>
    </p:spTree>
    <p:extLst>
      <p:ext uri="{BB962C8B-B14F-4D97-AF65-F5344CB8AC3E}">
        <p14:creationId xmlns:p14="http://schemas.microsoft.com/office/powerpoint/2010/main" val="2355590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360A4C54-B3B2-4B02-A340-C72E57FEE5FE}"/>
              </a:ext>
            </a:extLst>
          </p:cNvPr>
          <p:cNvSpPr>
            <a:spLocks noGrp="1"/>
          </p:cNvSpPr>
          <p:nvPr>
            <p:ph idx="1"/>
          </p:nvPr>
        </p:nvSpPr>
        <p:spPr/>
        <p:txBody>
          <a:bodyPr vert="horz" lIns="91440" tIns="45720" rIns="91440" bIns="45720" rtlCol="0" anchor="t">
            <a:noAutofit/>
          </a:bodyPr>
          <a:lstStyle/>
          <a:p>
            <a:r>
              <a:rPr lang="en-US" dirty="0"/>
              <a:t>Nana Noda-Morgan</a:t>
            </a:r>
          </a:p>
          <a:p>
            <a:endParaRPr lang="en-US" dirty="0"/>
          </a:p>
          <a:p>
            <a:r>
              <a:rPr lang="en-US" dirty="0">
                <a:hlinkClick r:id="rId3"/>
              </a:rPr>
              <a:t>https://nanas-recipe-drift-checker.streamlit.app/</a:t>
            </a:r>
            <a:endParaRPr lang="en-US" dirty="0"/>
          </a:p>
          <a:p>
            <a:endParaRPr lang="en-US" dirty="0"/>
          </a:p>
        </p:txBody>
      </p:sp>
    </p:spTree>
    <p:extLst>
      <p:ext uri="{BB962C8B-B14F-4D97-AF65-F5344CB8AC3E}">
        <p14:creationId xmlns:p14="http://schemas.microsoft.com/office/powerpoint/2010/main" val="131534595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{D2C469DE-B732-4676-AA65-495AC9F6F616}TF6ea1097e-8114-4abb-8578-efc1cea4ec3c79c3debc_win32-15e8df654485</Template>
  <TotalTime>63</TotalTime>
  <Words>393</Words>
  <Application>Microsoft Office PowerPoint</Application>
  <PresentationFormat>Widescreen</PresentationFormat>
  <Paragraphs>45</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Dante (Headings)2</vt:lpstr>
      <vt:lpstr>Helvetica Neue Medium</vt:lpstr>
      <vt:lpstr>Arial</vt:lpstr>
      <vt:lpstr>Calibri</vt:lpstr>
      <vt:lpstr>Dante</vt:lpstr>
      <vt:lpstr>Wingdings 2</vt:lpstr>
      <vt:lpstr>OffsetVTI</vt:lpstr>
      <vt:lpstr>Project Milestone 4:  Recipe Drift Checker Nana Noda-Morgan  DSC 670-T301: Advanced Uses of Generative AI Professor Neugebauer March 3, 2026</vt:lpstr>
      <vt:lpstr>Objective:  Create a generative AI app that helps home cooks prepare authentic recipes even if it contains ingredients that are difficult to find locally.</vt:lpstr>
      <vt:lpstr>What it does</vt:lpstr>
      <vt:lpstr>How it works</vt:lpstr>
      <vt:lpstr>How to access the app</vt:lpstr>
      <vt:lpstr>My final app has a simple UI with two user input fields and a CTA to analyze the recipe.</vt:lpstr>
      <vt:lpstr>I added a status message for each step, so the user knows the app is working</vt:lpstr>
      <vt:lpstr>The result displays below the CTA and status messages when complete.</vt:lpstr>
      <vt:lpstr>Output (continued)</vt:lpstr>
      <vt:lpstr>Output (continued)</vt:lpstr>
      <vt:lpstr>Output (continued)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nana Noda-Morgan</dc:creator>
  <cp:lastModifiedBy>nana Noda-Morgan</cp:lastModifiedBy>
  <cp:revision>1</cp:revision>
  <dcterms:created xsi:type="dcterms:W3CDTF">2026-03-04T04:14:40Z</dcterms:created>
  <dcterms:modified xsi:type="dcterms:W3CDTF">2026-03-04T05:17:53Z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